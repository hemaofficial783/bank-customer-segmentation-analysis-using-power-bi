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8" r:id="rId3"/>
    <p:sldId id="264" r:id="rId4"/>
    <p:sldId id="265" r:id="rId5"/>
    <p:sldId id="270" r:id="rId6"/>
    <p:sldId id="261" r:id="rId7"/>
    <p:sldId id="262" r:id="rId8"/>
    <p:sldId id="260" r:id="rId9"/>
    <p:sldId id="263" r:id="rId10"/>
    <p:sldId id="269" r:id="rId11"/>
    <p:sldId id="266" r:id="rId12"/>
    <p:sldId id="267" r:id="rId13"/>
    <p:sldId id="259" r:id="rId14"/>
    <p:sldId id="268" r:id="rId15"/>
  </p:sldIdLst>
  <p:sldSz cx="12192000" cy="6858000"/>
  <p:notesSz cx="6858000" cy="9144000"/>
  <p:embeddedFontLst>
    <p:embeddedFont>
      <p:font typeface="Libre Baskerville" panose="02000000000000000000" pitchFamily="2" charset="0"/>
      <p:regular r:id="rId17"/>
      <p:bold r:id="rId18"/>
      <p: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A828DE-6E81-4500-8EE7-41A6DBA66CF2}" v="13" dt="2026-01-03T04:08:16.6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8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notesMaster" Target="notesMasters/notesMaster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ha Manne" userId="2c249b4076541131" providerId="LiveId" clId="{D88258E9-747F-4BDF-B7F0-6FC57215C80C}"/>
    <pc:docChg chg="undo custSel addSld modSld sldOrd">
      <pc:chgData name="Akshitha Manne" userId="2c249b4076541131" providerId="LiveId" clId="{D88258E9-747F-4BDF-B7F0-6FC57215C80C}" dt="2026-01-03T04:10:11.791" v="459" actId="255"/>
      <pc:docMkLst>
        <pc:docMk/>
      </pc:docMkLst>
      <pc:sldChg chg="addSp delSp modSp mod">
        <pc:chgData name="Akshitha Manne" userId="2c249b4076541131" providerId="LiveId" clId="{D88258E9-747F-4BDF-B7F0-6FC57215C80C}" dt="2026-01-03T04:10:11.791" v="459" actId="255"/>
        <pc:sldMkLst>
          <pc:docMk/>
          <pc:sldMk cId="0" sldId="256"/>
        </pc:sldMkLst>
        <pc:spChg chg="add mod">
          <ac:chgData name="Akshitha Manne" userId="2c249b4076541131" providerId="LiveId" clId="{D88258E9-747F-4BDF-B7F0-6FC57215C80C}" dt="2026-01-03T04:08:03.670" v="386" actId="767"/>
          <ac:spMkLst>
            <pc:docMk/>
            <pc:sldMk cId="0" sldId="256"/>
            <ac:spMk id="2" creationId="{D2CAAED8-2897-3C70-85D1-9F680AF64F31}"/>
          </ac:spMkLst>
        </pc:spChg>
        <pc:spChg chg="add mod">
          <ac:chgData name="Akshitha Manne" userId="2c249b4076541131" providerId="LiveId" clId="{D88258E9-747F-4BDF-B7F0-6FC57215C80C}" dt="2026-01-03T04:10:11.791" v="459" actId="255"/>
          <ac:spMkLst>
            <pc:docMk/>
            <pc:sldMk cId="0" sldId="256"/>
            <ac:spMk id="3" creationId="{B910B092-74B6-47C4-A0E4-90EC5CB4EB8E}"/>
          </ac:spMkLst>
        </pc:spChg>
        <pc:spChg chg="del mod">
          <ac:chgData name="Akshitha Manne" userId="2c249b4076541131" providerId="LiveId" clId="{D88258E9-747F-4BDF-B7F0-6FC57215C80C}" dt="2026-01-02T16:18:19.714" v="310"/>
          <ac:spMkLst>
            <pc:docMk/>
            <pc:sldMk cId="0" sldId="256"/>
            <ac:spMk id="4" creationId="{952E9619-22DD-747A-8723-99304435BA6B}"/>
          </ac:spMkLst>
        </pc:spChg>
        <pc:spChg chg="mod">
          <ac:chgData name="Akshitha Manne" userId="2c249b4076541131" providerId="LiveId" clId="{D88258E9-747F-4BDF-B7F0-6FC57215C80C}" dt="2025-12-30T07:14:56.134" v="293" actId="20577"/>
          <ac:spMkLst>
            <pc:docMk/>
            <pc:sldMk cId="0" sldId="256"/>
            <ac:spMk id="99" creationId="{00000000-0000-0000-0000-000000000000}"/>
          </ac:spMkLst>
        </pc:spChg>
      </pc:sldChg>
      <pc:sldChg chg="modSp mod">
        <pc:chgData name="Akshitha Manne" userId="2c249b4076541131" providerId="LiveId" clId="{D88258E9-747F-4BDF-B7F0-6FC57215C80C}" dt="2026-01-03T04:07:42.200" v="385" actId="27636"/>
        <pc:sldMkLst>
          <pc:docMk/>
          <pc:sldMk cId="0" sldId="258"/>
        </pc:sldMkLst>
        <pc:spChg chg="mod">
          <ac:chgData name="Akshitha Manne" userId="2c249b4076541131" providerId="LiveId" clId="{D88258E9-747F-4BDF-B7F0-6FC57215C80C}" dt="2026-01-03T04:07:42.200" v="385" actId="27636"/>
          <ac:spMkLst>
            <pc:docMk/>
            <pc:sldMk cId="0" sldId="258"/>
            <ac:spMk id="111" creationId="{00000000-0000-0000-0000-000000000000}"/>
          </ac:spMkLst>
        </pc:spChg>
      </pc:sldChg>
      <pc:sldChg chg="new">
        <pc:chgData name="Akshitha Manne" userId="2c249b4076541131" providerId="LiveId" clId="{D88258E9-747F-4BDF-B7F0-6FC57215C80C}" dt="2026-01-02T16:16:23.080" v="294" actId="680"/>
        <pc:sldMkLst>
          <pc:docMk/>
          <pc:sldMk cId="3953172987" sldId="268"/>
        </pc:sldMkLst>
      </pc:sldChg>
      <pc:sldChg chg="modSp new mod ord">
        <pc:chgData name="Akshitha Manne" userId="2c249b4076541131" providerId="LiveId" clId="{D88258E9-747F-4BDF-B7F0-6FC57215C80C}" dt="2026-01-03T03:50:54.779" v="365"/>
        <pc:sldMkLst>
          <pc:docMk/>
          <pc:sldMk cId="3826969710" sldId="269"/>
        </pc:sldMkLst>
        <pc:spChg chg="mod">
          <ac:chgData name="Akshitha Manne" userId="2c249b4076541131" providerId="LiveId" clId="{D88258E9-747F-4BDF-B7F0-6FC57215C80C}" dt="2026-01-02T16:19:41.224" v="345" actId="122"/>
          <ac:spMkLst>
            <pc:docMk/>
            <pc:sldMk cId="3826969710" sldId="269"/>
            <ac:spMk id="2" creationId="{27C054F9-7779-242A-94FA-1B21FF43F7FF}"/>
          </ac:spMkLst>
        </pc:spChg>
        <pc:spChg chg="mod">
          <ac:chgData name="Akshitha Manne" userId="2c249b4076541131" providerId="LiveId" clId="{D88258E9-747F-4BDF-B7F0-6FC57215C80C}" dt="2026-01-03T03:49:14.949" v="363" actId="20577"/>
          <ac:spMkLst>
            <pc:docMk/>
            <pc:sldMk cId="3826969710" sldId="269"/>
            <ac:spMk id="3" creationId="{915D32B3-2CA0-DBEE-AFA5-BC3FF74699E8}"/>
          </ac:spMkLst>
        </pc:spChg>
      </pc:sldChg>
      <pc:sldChg chg="modSp new mod">
        <pc:chgData name="Akshitha Manne" userId="2c249b4076541131" providerId="LiveId" clId="{D88258E9-747F-4BDF-B7F0-6FC57215C80C}" dt="2026-01-02T16:19:26.424" v="334"/>
        <pc:sldMkLst>
          <pc:docMk/>
          <pc:sldMk cId="338681966" sldId="270"/>
        </pc:sldMkLst>
        <pc:spChg chg="mod">
          <ac:chgData name="Akshitha Manne" userId="2c249b4076541131" providerId="LiveId" clId="{D88258E9-747F-4BDF-B7F0-6FC57215C80C}" dt="2026-01-02T16:18:54.029" v="333" actId="122"/>
          <ac:spMkLst>
            <pc:docMk/>
            <pc:sldMk cId="338681966" sldId="270"/>
            <ac:spMk id="2" creationId="{B52FC194-725D-ED3D-2DEA-D67388065A44}"/>
          </ac:spMkLst>
        </pc:spChg>
        <pc:spChg chg="mod">
          <ac:chgData name="Akshitha Manne" userId="2c249b4076541131" providerId="LiveId" clId="{D88258E9-747F-4BDF-B7F0-6FC57215C80C}" dt="2026-01-02T16:19:26.424" v="334"/>
          <ac:spMkLst>
            <pc:docMk/>
            <pc:sldMk cId="338681966" sldId="270"/>
            <ac:spMk id="3" creationId="{74804184-BD4C-A150-C412-4BB2600DD8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457201" y="3657600"/>
            <a:ext cx="10692244" cy="6155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BANK CUSTOMER SEGMENTATION </a:t>
            </a:r>
            <a:endParaRPr sz="34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D2CAAED8-2897-3C70-85D1-9F680AF64F31}"/>
              </a:ext>
            </a:extLst>
          </p:cNvPr>
          <p:cNvSpPr txBox="1"/>
          <p:nvPr/>
        </p:nvSpPr>
        <p:spPr>
          <a:xfrm>
            <a:off x="5637068" y="2971800"/>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B910B092-74B6-47C4-A0E4-90EC5CB4EB8E}"/>
              </a:ext>
            </a:extLst>
          </p:cNvPr>
          <p:cNvSpPr txBox="1"/>
          <p:nvPr/>
        </p:nvSpPr>
        <p:spPr>
          <a:xfrm>
            <a:off x="8930986" y="4958913"/>
            <a:ext cx="2841914" cy="1046440"/>
          </a:xfrm>
          <a:prstGeom prst="rect">
            <a:avLst/>
          </a:prstGeom>
          <a:noFill/>
        </p:spPr>
        <p:txBody>
          <a:bodyPr wrap="square" rtlCol="0">
            <a:spAutoFit/>
          </a:bodyPr>
          <a:lstStyle/>
          <a:p>
            <a:r>
              <a:rPr lang="en-IN" sz="2000" b="1" dirty="0">
                <a:solidFill>
                  <a:srgbClr val="FF0000"/>
                </a:solidFill>
              </a:rPr>
              <a:t>PRESENTED BY:</a:t>
            </a:r>
          </a:p>
          <a:p>
            <a:r>
              <a:rPr lang="en-IN" b="1" dirty="0"/>
              <a:t>MANNE AKSHITHA</a:t>
            </a:r>
          </a:p>
          <a:p>
            <a:r>
              <a:rPr lang="en-IN" b="1" dirty="0"/>
              <a:t>MAMIDI HEMA GOUD</a:t>
            </a:r>
          </a:p>
          <a:p>
            <a:r>
              <a:rPr lang="en-IN" b="1" dirty="0"/>
              <a:t>BATCH NO:456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342900"/>
            <a:ext cx="10515600" cy="100091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300416" y="1343818"/>
            <a:ext cx="10515600" cy="4204928"/>
          </a:xfrm>
          <a:prstGeom prst="rect">
            <a:avLst/>
          </a:prstGeom>
          <a:noFill/>
          <a:ln>
            <a:noFill/>
          </a:ln>
        </p:spPr>
        <p:txBody>
          <a:bodyPr spcFirstLastPara="1" wrap="square" lIns="91425" tIns="45700" rIns="91425" bIns="45700" anchor="t" anchorCtr="0">
            <a:normAutofit lnSpcReduction="10000"/>
          </a:bodyPr>
          <a:lstStyle/>
          <a:p>
            <a:pPr marL="0" lvl="0" indent="0">
              <a:buSzPts val="2800"/>
              <a:buNone/>
            </a:pPr>
            <a:r>
              <a:rPr lang="en-US" dirty="0"/>
              <a:t>➤ </a:t>
            </a:r>
            <a:r>
              <a:rPr lang="en-US" b="1" dirty="0"/>
              <a:t>Introduction </a:t>
            </a:r>
            <a:br>
              <a:rPr lang="en-US" dirty="0"/>
            </a:br>
            <a:r>
              <a:rPr lang="en-US" dirty="0"/>
              <a:t>➤ </a:t>
            </a:r>
            <a:r>
              <a:rPr lang="en-US" b="1" dirty="0"/>
              <a:t>Business Problem</a:t>
            </a:r>
          </a:p>
          <a:p>
            <a:pPr marL="0" lvl="0" indent="0">
              <a:buSzPts val="2800"/>
              <a:buNone/>
            </a:pPr>
            <a:r>
              <a:rPr lang="en-US" dirty="0"/>
              <a:t>➤ </a:t>
            </a:r>
            <a:r>
              <a:rPr lang="en-US" b="1" dirty="0"/>
              <a:t>Objective</a:t>
            </a:r>
          </a:p>
          <a:p>
            <a:pPr marL="0" lvl="0" indent="0">
              <a:buSzPts val="2800"/>
              <a:buNone/>
            </a:pPr>
            <a:r>
              <a:rPr lang="en-US" dirty="0"/>
              <a:t>➤ </a:t>
            </a:r>
            <a:r>
              <a:rPr lang="en-US" b="1" dirty="0"/>
              <a:t>Insights</a:t>
            </a:r>
            <a:br>
              <a:rPr lang="en-US" dirty="0"/>
            </a:br>
            <a:r>
              <a:rPr lang="en-US" dirty="0"/>
              <a:t>➤ </a:t>
            </a:r>
            <a:r>
              <a:rPr lang="en-US" b="1" dirty="0"/>
              <a:t>Customer Demographics Analysis</a:t>
            </a:r>
            <a:br>
              <a:rPr lang="en-US" dirty="0"/>
            </a:br>
            <a:r>
              <a:rPr lang="en-US" dirty="0"/>
              <a:t>➤ </a:t>
            </a:r>
            <a:r>
              <a:rPr lang="en-US" b="1" dirty="0"/>
              <a:t>Transaction Behavior Insights</a:t>
            </a:r>
            <a:br>
              <a:rPr lang="en-US" dirty="0"/>
            </a:br>
            <a:r>
              <a:rPr lang="en-US" dirty="0"/>
              <a:t>➤ </a:t>
            </a:r>
            <a:r>
              <a:rPr lang="en-US" b="1" dirty="0"/>
              <a:t>Customer Segmentation</a:t>
            </a:r>
            <a:r>
              <a:rPr lang="en-US" dirty="0"/>
              <a:t> </a:t>
            </a:r>
            <a:r>
              <a:rPr lang="en-US" b="1" dirty="0"/>
              <a:t>Analysis</a:t>
            </a:r>
            <a:br>
              <a:rPr lang="en-US" dirty="0"/>
            </a:br>
            <a:r>
              <a:rPr lang="en-US" dirty="0"/>
              <a:t>➤ </a:t>
            </a:r>
            <a:r>
              <a:rPr lang="en-US" b="1" dirty="0"/>
              <a:t>Profitability Risk &amp; Indicators</a:t>
            </a:r>
            <a:br>
              <a:rPr lang="en-US" dirty="0"/>
            </a:br>
            <a:r>
              <a:rPr lang="en-US" dirty="0"/>
              <a:t>➤ </a:t>
            </a:r>
            <a:r>
              <a:rPr lang="en-US" b="1" dirty="0"/>
              <a:t>Conclusion</a:t>
            </a:r>
            <a:br>
              <a:rPr lang="en-US" dirty="0"/>
            </a:br>
            <a:r>
              <a:rPr lang="en-US" dirty="0"/>
              <a:t>➤ </a:t>
            </a:r>
            <a:r>
              <a:rPr lang="en-US" b="1" dirty="0"/>
              <a:t>Recommendations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7D86-4FC8-86F7-6006-9503CDF77B68}"/>
              </a:ext>
            </a:extLst>
          </p:cNvPr>
          <p:cNvSpPr>
            <a:spLocks noGrp="1"/>
          </p:cNvSpPr>
          <p:nvPr>
            <p:ph type="title"/>
          </p:nvPr>
        </p:nvSpPr>
        <p:spPr>
          <a:xfrm>
            <a:off x="838200" y="110258"/>
            <a:ext cx="10515600" cy="1141557"/>
          </a:xfrm>
        </p:spPr>
        <p:txBody>
          <a:bodyPr/>
          <a:lstStyle/>
          <a:p>
            <a:pPr algn="ctr"/>
            <a:r>
              <a:rPr lang="en-US" b="1" dirty="0">
                <a:solidFill>
                  <a:srgbClr val="FF0000"/>
                </a:solidFill>
              </a:rPr>
              <a:t>Introduction</a:t>
            </a:r>
          </a:p>
        </p:txBody>
      </p:sp>
      <p:sp>
        <p:nvSpPr>
          <p:cNvPr id="3" name="Text Placeholder 2">
            <a:extLst>
              <a:ext uri="{FF2B5EF4-FFF2-40B4-BE49-F238E27FC236}">
                <a16:creationId xmlns:a16="http://schemas.microsoft.com/office/drawing/2014/main" id="{37CD09EA-A293-FAF1-EB62-FA110544D6CF}"/>
              </a:ext>
            </a:extLst>
          </p:cNvPr>
          <p:cNvSpPr>
            <a:spLocks noGrp="1"/>
          </p:cNvSpPr>
          <p:nvPr>
            <p:ph type="body" idx="1"/>
          </p:nvPr>
        </p:nvSpPr>
        <p:spPr>
          <a:xfrm>
            <a:off x="581891" y="1251815"/>
            <a:ext cx="10771909" cy="4203412"/>
          </a:xfrm>
        </p:spPr>
        <p:txBody>
          <a:bodyPr>
            <a:normAutofit/>
          </a:bodyPr>
          <a:lstStyle/>
          <a:p>
            <a:pPr>
              <a:buFont typeface="Wingdings" panose="05000000000000000000" pitchFamily="2" charset="2"/>
              <a:buChar char="Ø"/>
            </a:pPr>
            <a:r>
              <a:rPr lang="en-US" dirty="0"/>
              <a:t>Banks have a large number of customers with different needs and behaviors.</a:t>
            </a:r>
          </a:p>
          <a:p>
            <a:pPr>
              <a:buFont typeface="Wingdings" panose="05000000000000000000" pitchFamily="2" charset="2"/>
              <a:buChar char="Ø"/>
            </a:pPr>
            <a:r>
              <a:rPr lang="en-US" dirty="0"/>
              <a:t>Understanding customer behavior is important to improve services, customer satisfaction, and business growth.</a:t>
            </a:r>
          </a:p>
          <a:p>
            <a:pPr>
              <a:buFont typeface="Wingdings" panose="05000000000000000000" pitchFamily="2" charset="2"/>
              <a:buChar char="Ø"/>
            </a:pPr>
            <a:r>
              <a:rPr lang="en-US" dirty="0"/>
              <a:t>This project analyzes </a:t>
            </a:r>
            <a:r>
              <a:rPr lang="en-US" b="1" dirty="0"/>
              <a:t>bank customer transaction data</a:t>
            </a:r>
            <a:r>
              <a:rPr lang="en-US" dirty="0"/>
              <a:t> to understand how customers behave differently.</a:t>
            </a:r>
          </a:p>
          <a:p>
            <a:pPr>
              <a:buFont typeface="Wingdings" panose="05000000000000000000" pitchFamily="2" charset="2"/>
              <a:buChar char="Ø"/>
            </a:pPr>
            <a:r>
              <a:rPr lang="en-US" dirty="0"/>
              <a:t>The analysis helps the bank to identify valuable customers, reduce customer loss, and make better business decisions.</a:t>
            </a:r>
          </a:p>
          <a:p>
            <a:pPr>
              <a:buFont typeface="Wingdings" panose="05000000000000000000" pitchFamily="2" charset="2"/>
              <a:buChar char="Ø"/>
            </a:pPr>
            <a:endParaRPr lang="en-US" dirty="0"/>
          </a:p>
          <a:p>
            <a:endParaRPr lang="en-US" dirty="0"/>
          </a:p>
        </p:txBody>
      </p:sp>
    </p:spTree>
    <p:extLst>
      <p:ext uri="{BB962C8B-B14F-4D97-AF65-F5344CB8AC3E}">
        <p14:creationId xmlns:p14="http://schemas.microsoft.com/office/powerpoint/2010/main" val="384785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A49EB-4FB9-7460-D2AE-52D47801DC66}"/>
              </a:ext>
            </a:extLst>
          </p:cNvPr>
          <p:cNvSpPr>
            <a:spLocks noGrp="1"/>
          </p:cNvSpPr>
          <p:nvPr>
            <p:ph type="title"/>
          </p:nvPr>
        </p:nvSpPr>
        <p:spPr>
          <a:xfrm>
            <a:off x="432954" y="39037"/>
            <a:ext cx="10515600" cy="1325563"/>
          </a:xfrm>
        </p:spPr>
        <p:txBody>
          <a:bodyPr/>
          <a:lstStyle/>
          <a:p>
            <a:pPr algn="ctr"/>
            <a:r>
              <a:rPr lang="en-US" b="1" dirty="0">
                <a:solidFill>
                  <a:srgbClr val="FF0000"/>
                </a:solidFill>
              </a:rPr>
              <a:t>Business Problem</a:t>
            </a:r>
            <a:endParaRPr lang="en-US" dirty="0">
              <a:solidFill>
                <a:srgbClr val="FF0000"/>
              </a:solidFill>
            </a:endParaRPr>
          </a:p>
        </p:txBody>
      </p:sp>
      <p:sp>
        <p:nvSpPr>
          <p:cNvPr id="3" name="Text Placeholder 2">
            <a:extLst>
              <a:ext uri="{FF2B5EF4-FFF2-40B4-BE49-F238E27FC236}">
                <a16:creationId xmlns:a16="http://schemas.microsoft.com/office/drawing/2014/main" id="{F78414B8-70A2-CC83-F95A-263C895936F3}"/>
              </a:ext>
            </a:extLst>
          </p:cNvPr>
          <p:cNvSpPr>
            <a:spLocks noGrp="1"/>
          </p:cNvSpPr>
          <p:nvPr>
            <p:ph type="body" idx="1"/>
          </p:nvPr>
        </p:nvSpPr>
        <p:spPr>
          <a:xfrm>
            <a:off x="772391" y="1402773"/>
            <a:ext cx="10515600" cy="4753408"/>
          </a:xfrm>
        </p:spPr>
        <p:txBody>
          <a:bodyPr>
            <a:normAutofit lnSpcReduction="10000"/>
          </a:bodyPr>
          <a:lstStyle/>
          <a:p>
            <a:pPr>
              <a:buFont typeface="Wingdings" panose="05000000000000000000" pitchFamily="2" charset="2"/>
              <a:buChar char="Ø"/>
            </a:pPr>
            <a:r>
              <a:rPr lang="en-US" dirty="0"/>
              <a:t>Banks cannot quickly identify customers who are becoming inactive.</a:t>
            </a:r>
          </a:p>
          <a:p>
            <a:pPr>
              <a:buFont typeface="Wingdings" panose="05000000000000000000" pitchFamily="2" charset="2"/>
              <a:buChar char="Ø"/>
            </a:pPr>
            <a:r>
              <a:rPr lang="en-US" dirty="0"/>
              <a:t>Loyal customers are treated the same as low-value customers.</a:t>
            </a:r>
          </a:p>
          <a:p>
            <a:pPr>
              <a:buFont typeface="Wingdings" panose="05000000000000000000" pitchFamily="2" charset="2"/>
              <a:buChar char="Ø"/>
            </a:pPr>
            <a:r>
              <a:rPr lang="en-US" dirty="0"/>
              <a:t>Marketing offers are sent to the wrong customers, reducing effectiveness.</a:t>
            </a:r>
          </a:p>
          <a:p>
            <a:pPr>
              <a:buFont typeface="Wingdings" panose="05000000000000000000" pitchFamily="2" charset="2"/>
              <a:buChar char="Ø"/>
            </a:pPr>
            <a:r>
              <a:rPr lang="en-US" dirty="0"/>
              <a:t>Banks face difficulty in predicting customer churn in advance.</a:t>
            </a:r>
          </a:p>
          <a:p>
            <a:pPr>
              <a:buFont typeface="Wingdings" panose="05000000000000000000" pitchFamily="2" charset="2"/>
              <a:buChar char="Ø"/>
            </a:pPr>
            <a:r>
              <a:rPr lang="en-US" dirty="0"/>
              <a:t>Customer service teams lack insights into customer behavior history.</a:t>
            </a:r>
          </a:p>
          <a:p>
            <a:pPr>
              <a:buFont typeface="Wingdings" panose="05000000000000000000" pitchFamily="2" charset="2"/>
              <a:buChar char="Ø"/>
            </a:pPr>
            <a:r>
              <a:rPr lang="en-US" dirty="0"/>
              <a:t>Revenue opportunities are lost due to poor personalization.</a:t>
            </a:r>
          </a:p>
          <a:p>
            <a:pPr>
              <a:buFont typeface="Wingdings" panose="05000000000000000000" pitchFamily="2" charset="2"/>
              <a:buChar char="Ø"/>
            </a:pPr>
            <a:r>
              <a:rPr lang="en-US" dirty="0"/>
              <a:t>Manual analysis is time-consuming and not suitable for real-time decisions</a:t>
            </a:r>
          </a:p>
          <a:p>
            <a:pPr marL="114300" indent="0">
              <a:buNone/>
            </a:pPr>
            <a:endParaRPr lang="en-US" dirty="0"/>
          </a:p>
        </p:txBody>
      </p:sp>
    </p:spTree>
    <p:extLst>
      <p:ext uri="{BB962C8B-B14F-4D97-AF65-F5344CB8AC3E}">
        <p14:creationId xmlns:p14="http://schemas.microsoft.com/office/powerpoint/2010/main" val="3730387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FC194-725D-ED3D-2DEA-D67388065A44}"/>
              </a:ext>
            </a:extLst>
          </p:cNvPr>
          <p:cNvSpPr>
            <a:spLocks noGrp="1"/>
          </p:cNvSpPr>
          <p:nvPr>
            <p:ph type="title"/>
          </p:nvPr>
        </p:nvSpPr>
        <p:spPr/>
        <p:txBody>
          <a:bodyPr/>
          <a:lstStyle/>
          <a:p>
            <a:pPr algn="ctr"/>
            <a:r>
              <a:rPr lang="en-IN" b="1" dirty="0">
                <a:solidFill>
                  <a:srgbClr val="FF0000"/>
                </a:solidFill>
              </a:rPr>
              <a:t>BUSINESS OBJECTIVE</a:t>
            </a:r>
          </a:p>
        </p:txBody>
      </p:sp>
      <p:sp>
        <p:nvSpPr>
          <p:cNvPr id="3" name="Text Placeholder 2">
            <a:extLst>
              <a:ext uri="{FF2B5EF4-FFF2-40B4-BE49-F238E27FC236}">
                <a16:creationId xmlns:a16="http://schemas.microsoft.com/office/drawing/2014/main" id="{74804184-BD4C-A150-C412-4BB2600DD8E6}"/>
              </a:ext>
            </a:extLst>
          </p:cNvPr>
          <p:cNvSpPr>
            <a:spLocks noGrp="1"/>
          </p:cNvSpPr>
          <p:nvPr>
            <p:ph type="body" idx="1"/>
          </p:nvPr>
        </p:nvSpPr>
        <p:spPr/>
        <p:txBody>
          <a:bodyPr/>
          <a:lstStyle/>
          <a:p>
            <a:r>
              <a:rPr lang="en-US" dirty="0"/>
              <a:t>The main business objective of this project is to analyze bank customer and transaction data to understand customer behavior and identify patterns that support better decision-making. By segmenting customers into new, loyal, and lost groups and applying RFM analysis, the project aims to identify high-value customers and customers at risk of churn. The analysis also focuses on assessing customer risk using credit scores and understanding profitability across different customer segments. </a:t>
            </a:r>
            <a:endParaRPr lang="en-IN" dirty="0"/>
          </a:p>
        </p:txBody>
      </p:sp>
    </p:spTree>
    <p:extLst>
      <p:ext uri="{BB962C8B-B14F-4D97-AF65-F5344CB8AC3E}">
        <p14:creationId xmlns:p14="http://schemas.microsoft.com/office/powerpoint/2010/main" val="338681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2" name="Add-in 1">
                <a:extLst>
                  <a:ext uri="{FF2B5EF4-FFF2-40B4-BE49-F238E27FC236}">
                    <a16:creationId xmlns:a16="http://schemas.microsoft.com/office/drawing/2014/main" id="{0EF39E4A-EB28-5F69-FBCB-67BB43545956}"/>
                  </a:ext>
                </a:extLst>
              </p:cNvPr>
              <p:cNvGraphicFramePr>
                <a:graphicFrameLocks noGrp="1"/>
              </p:cNvGraphicFramePr>
              <p:nvPr>
                <p:extLst>
                  <p:ext uri="{D42A27DB-BD31-4B8C-83A1-F6EECF244321}">
                    <p14:modId xmlns:p14="http://schemas.microsoft.com/office/powerpoint/2010/main" val="888623343"/>
                  </p:ext>
                </p:extLst>
              </p:nvPr>
            </p:nvGraphicFramePr>
            <p:xfrm>
              <a:off x="0" y="-1"/>
              <a:ext cx="12192000" cy="6858001"/>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2" name="Add-in 1">
                <a:extLst>
                  <a:ext uri="{FF2B5EF4-FFF2-40B4-BE49-F238E27FC236}">
                    <a16:creationId xmlns:a16="http://schemas.microsoft.com/office/drawing/2014/main" id="{0EF39E4A-EB28-5F69-FBCB-67BB43545956}"/>
                  </a:ext>
                </a:extLst>
              </p:cNvPr>
              <p:cNvPicPr>
                <a:picLocks noGrp="1" noRot="1" noChangeAspect="1" noMove="1" noResize="1" noEditPoints="1" noAdjustHandles="1" noChangeArrowheads="1" noChangeShapeType="1"/>
              </p:cNvPicPr>
              <p:nvPr/>
            </p:nvPicPr>
            <p:blipFill>
              <a:blip r:embed="rId3"/>
              <a:stretch>
                <a:fillRect/>
              </a:stretch>
            </p:blipFill>
            <p:spPr>
              <a:xfrm>
                <a:off x="0" y="-1"/>
                <a:ext cx="12192000" cy="6858001"/>
              </a:xfrm>
              <a:prstGeom prst="rect">
                <a:avLst/>
              </a:prstGeom>
            </p:spPr>
          </p:pic>
        </mc:Fallback>
      </mc:AlternateContent>
    </p:spTree>
    <p:extLst>
      <p:ext uri="{BB962C8B-B14F-4D97-AF65-F5344CB8AC3E}">
        <p14:creationId xmlns:p14="http://schemas.microsoft.com/office/powerpoint/2010/main" val="1377671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Add-in 3">
                <a:extLst>
                  <a:ext uri="{FF2B5EF4-FFF2-40B4-BE49-F238E27FC236}">
                    <a16:creationId xmlns:a16="http://schemas.microsoft.com/office/drawing/2014/main" id="{05970D5D-2FE2-8B24-9568-0BFE1368DB85}"/>
                  </a:ext>
                </a:extLst>
              </p:cNvPr>
              <p:cNvGraphicFramePr>
                <a:graphicFrameLocks noGrp="1"/>
              </p:cNvGraphicFramePr>
              <p:nvPr>
                <p:extLst>
                  <p:ext uri="{D42A27DB-BD31-4B8C-83A1-F6EECF244321}">
                    <p14:modId xmlns:p14="http://schemas.microsoft.com/office/powerpoint/2010/main" val="3957925961"/>
                  </p:ext>
                </p:extLst>
              </p:nvPr>
            </p:nvGraphicFramePr>
            <p:xfrm>
              <a:off x="0" y="0"/>
              <a:ext cx="12192000" cy="6858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Add-in 3">
                <a:extLst>
                  <a:ext uri="{FF2B5EF4-FFF2-40B4-BE49-F238E27FC236}">
                    <a16:creationId xmlns:a16="http://schemas.microsoft.com/office/drawing/2014/main" id="{05970D5D-2FE2-8B24-9568-0BFE1368DB85}"/>
                  </a:ext>
                </a:extLst>
              </p:cNvPr>
              <p:cNvPicPr>
                <a:picLocks noGrp="1" noRot="1" noChangeAspect="1" noMove="1" noResize="1" noEditPoints="1" noAdjustHandles="1" noChangeArrowheads="1" noChangeShapeType="1"/>
              </p:cNvPicPr>
              <p:nvPr/>
            </p:nvPicPr>
            <p:blipFill>
              <a:blip r:embed="rId3"/>
              <a:stretch>
                <a:fillRect/>
              </a:stretch>
            </p:blipFill>
            <p:spPr>
              <a:xfrm>
                <a:off x="0" y="0"/>
                <a:ext cx="12192000" cy="6858000"/>
              </a:xfrm>
              <a:prstGeom prst="rect">
                <a:avLst/>
              </a:prstGeom>
            </p:spPr>
          </p:pic>
        </mc:Fallback>
      </mc:AlternateContent>
    </p:spTree>
    <p:extLst>
      <p:ext uri="{BB962C8B-B14F-4D97-AF65-F5344CB8AC3E}">
        <p14:creationId xmlns:p14="http://schemas.microsoft.com/office/powerpoint/2010/main" val="2621289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2" name="Add-in 1">
                <a:extLst>
                  <a:ext uri="{FF2B5EF4-FFF2-40B4-BE49-F238E27FC236}">
                    <a16:creationId xmlns:a16="http://schemas.microsoft.com/office/drawing/2014/main" id="{83289FC8-F333-8AB9-F114-4163B17EAB9E}"/>
                  </a:ext>
                </a:extLst>
              </p:cNvPr>
              <p:cNvGraphicFramePr>
                <a:graphicFrameLocks noGrp="1"/>
              </p:cNvGraphicFramePr>
              <p:nvPr>
                <p:extLst>
                  <p:ext uri="{D42A27DB-BD31-4B8C-83A1-F6EECF244321}">
                    <p14:modId xmlns:p14="http://schemas.microsoft.com/office/powerpoint/2010/main" val="1439923881"/>
                  </p:ext>
                </p:extLst>
              </p:nvPr>
            </p:nvGraphicFramePr>
            <p:xfrm>
              <a:off x="0" y="0"/>
              <a:ext cx="12192000" cy="6858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2" name="Add-in 1">
                <a:extLst>
                  <a:ext uri="{FF2B5EF4-FFF2-40B4-BE49-F238E27FC236}">
                    <a16:creationId xmlns:a16="http://schemas.microsoft.com/office/drawing/2014/main" id="{83289FC8-F333-8AB9-F114-4163B17EAB9E}"/>
                  </a:ext>
                </a:extLst>
              </p:cNvPr>
              <p:cNvPicPr>
                <a:picLocks noGrp="1" noRot="1" noChangeAspect="1" noMove="1" noResize="1" noEditPoints="1" noAdjustHandles="1" noChangeArrowheads="1" noChangeShapeType="1"/>
              </p:cNvPicPr>
              <p:nvPr/>
            </p:nvPicPr>
            <p:blipFill>
              <a:blip r:embed="rId3"/>
              <a:stretch>
                <a:fillRect/>
              </a:stretch>
            </p:blipFill>
            <p:spPr>
              <a:xfrm>
                <a:off x="0" y="0"/>
                <a:ext cx="12192000" cy="6858000"/>
              </a:xfrm>
              <a:prstGeom prst="rect">
                <a:avLst/>
              </a:prstGeom>
            </p:spPr>
          </p:pic>
        </mc:Fallback>
      </mc:AlternateContent>
    </p:spTree>
    <p:extLst>
      <p:ext uri="{BB962C8B-B14F-4D97-AF65-F5344CB8AC3E}">
        <p14:creationId xmlns:p14="http://schemas.microsoft.com/office/powerpoint/2010/main" val="3468473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2" name="Add-in 1">
                <a:extLst>
                  <a:ext uri="{FF2B5EF4-FFF2-40B4-BE49-F238E27FC236}">
                    <a16:creationId xmlns:a16="http://schemas.microsoft.com/office/drawing/2014/main" id="{82CA32E3-C41B-B22B-06F2-87B06809E01A}"/>
                  </a:ext>
                </a:extLst>
              </p:cNvPr>
              <p:cNvGraphicFramePr>
                <a:graphicFrameLocks noGrp="1"/>
              </p:cNvGraphicFramePr>
              <p:nvPr>
                <p:extLst>
                  <p:ext uri="{D42A27DB-BD31-4B8C-83A1-F6EECF244321}">
                    <p14:modId xmlns:p14="http://schemas.microsoft.com/office/powerpoint/2010/main" val="571388011"/>
                  </p:ext>
                </p:extLst>
              </p:nvPr>
            </p:nvGraphicFramePr>
            <p:xfrm>
              <a:off x="0" y="0"/>
              <a:ext cx="12192000" cy="6858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2" name="Add-in 1">
                <a:extLst>
                  <a:ext uri="{FF2B5EF4-FFF2-40B4-BE49-F238E27FC236}">
                    <a16:creationId xmlns:a16="http://schemas.microsoft.com/office/drawing/2014/main" id="{82CA32E3-C41B-B22B-06F2-87B06809E01A}"/>
                  </a:ext>
                </a:extLst>
              </p:cNvPr>
              <p:cNvPicPr>
                <a:picLocks noGrp="1" noRot="1" noChangeAspect="1" noMove="1" noResize="1" noEditPoints="1" noAdjustHandles="1" noChangeArrowheads="1" noChangeShapeType="1"/>
              </p:cNvPicPr>
              <p:nvPr/>
            </p:nvPicPr>
            <p:blipFill>
              <a:blip r:embed="rId3"/>
              <a:stretch>
                <a:fillRect/>
              </a:stretch>
            </p:blipFill>
            <p:spPr>
              <a:xfrm>
                <a:off x="0" y="0"/>
                <a:ext cx="12192000" cy="6858000"/>
              </a:xfrm>
              <a:prstGeom prst="rect">
                <a:avLst/>
              </a:prstGeom>
            </p:spPr>
          </p:pic>
        </mc:Fallback>
      </mc:AlternateContent>
    </p:spTree>
    <p:extLst>
      <p:ext uri="{BB962C8B-B14F-4D97-AF65-F5344CB8AC3E}">
        <p14:creationId xmlns:p14="http://schemas.microsoft.com/office/powerpoint/2010/main" val="2815791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054F9-7779-242A-94FA-1B21FF43F7FF}"/>
              </a:ext>
            </a:extLst>
          </p:cNvPr>
          <p:cNvSpPr>
            <a:spLocks noGrp="1"/>
          </p:cNvSpPr>
          <p:nvPr>
            <p:ph type="title"/>
          </p:nvPr>
        </p:nvSpPr>
        <p:spPr/>
        <p:txBody>
          <a:bodyPr/>
          <a:lstStyle/>
          <a:p>
            <a:pPr algn="ctr"/>
            <a:r>
              <a:rPr lang="en-IN" b="1" dirty="0">
                <a:solidFill>
                  <a:srgbClr val="FF0000"/>
                </a:solidFill>
              </a:rPr>
              <a:t>INSIGHTS</a:t>
            </a:r>
          </a:p>
        </p:txBody>
      </p:sp>
      <p:sp>
        <p:nvSpPr>
          <p:cNvPr id="3" name="Text Placeholder 2">
            <a:extLst>
              <a:ext uri="{FF2B5EF4-FFF2-40B4-BE49-F238E27FC236}">
                <a16:creationId xmlns:a16="http://schemas.microsoft.com/office/drawing/2014/main" id="{915D32B3-2CA0-DBEE-AFA5-BC3FF74699E8}"/>
              </a:ext>
            </a:extLst>
          </p:cNvPr>
          <p:cNvSpPr>
            <a:spLocks noGrp="1"/>
          </p:cNvSpPr>
          <p:nvPr>
            <p:ph type="body" idx="1"/>
          </p:nvPr>
        </p:nvSpPr>
        <p:spPr/>
        <p:txBody>
          <a:bodyPr/>
          <a:lstStyle/>
          <a:p>
            <a:r>
              <a:rPr lang="en-US" dirty="0"/>
              <a:t>Loyal customers generate maximum value</a:t>
            </a:r>
          </a:p>
          <a:p>
            <a:r>
              <a:rPr lang="en-US" dirty="0"/>
              <a:t>Early churn signals can be detected using transaction patterns</a:t>
            </a:r>
          </a:p>
          <a:p>
            <a:r>
              <a:rPr lang="en-US" dirty="0"/>
              <a:t>Marketing efforts are not optimally targeted</a:t>
            </a:r>
          </a:p>
          <a:p>
            <a:r>
              <a:rPr lang="en-US" dirty="0"/>
              <a:t>Marketing efforts are not optimally targeted</a:t>
            </a:r>
          </a:p>
          <a:p>
            <a:r>
              <a:rPr lang="en-US" dirty="0"/>
              <a:t>High-risk customers do not always generate high revenue</a:t>
            </a:r>
          </a:p>
          <a:p>
            <a:r>
              <a:rPr lang="en-US" dirty="0"/>
              <a:t>Lack of personalization leads to revenue loss</a:t>
            </a:r>
          </a:p>
          <a:p>
            <a:r>
              <a:rPr lang="en-US" dirty="0"/>
              <a:t>Manual analysis limits timely decision-making</a:t>
            </a:r>
            <a:endParaRPr lang="en-IN" dirty="0"/>
          </a:p>
        </p:txBody>
      </p:sp>
    </p:spTree>
    <p:extLst>
      <p:ext uri="{BB962C8B-B14F-4D97-AF65-F5344CB8AC3E}">
        <p14:creationId xmlns:p14="http://schemas.microsoft.com/office/powerpoint/2010/main" val="3826969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E331-DAA4-58B0-6C4F-DB584F227959}"/>
              </a:ext>
            </a:extLst>
          </p:cNvPr>
          <p:cNvSpPr>
            <a:spLocks noGrp="1"/>
          </p:cNvSpPr>
          <p:nvPr>
            <p:ph type="title"/>
          </p:nvPr>
        </p:nvSpPr>
        <p:spPr/>
        <p:txBody>
          <a:bodyPr/>
          <a:lstStyle/>
          <a:p>
            <a:pPr algn="ctr"/>
            <a:r>
              <a:rPr lang="en-US" b="1" dirty="0">
                <a:solidFill>
                  <a:srgbClr val="FF0000"/>
                </a:solidFill>
              </a:rPr>
              <a:t>Conclusion</a:t>
            </a:r>
            <a:endParaRPr lang="en-US" dirty="0">
              <a:solidFill>
                <a:srgbClr val="FF0000"/>
              </a:solidFill>
            </a:endParaRPr>
          </a:p>
        </p:txBody>
      </p:sp>
      <p:sp>
        <p:nvSpPr>
          <p:cNvPr id="3" name="Text Placeholder 2">
            <a:extLst>
              <a:ext uri="{FF2B5EF4-FFF2-40B4-BE49-F238E27FC236}">
                <a16:creationId xmlns:a16="http://schemas.microsoft.com/office/drawing/2014/main" id="{F32A4BAE-9F68-5FAB-FE96-E82BAD63F5AB}"/>
              </a:ext>
            </a:extLst>
          </p:cNvPr>
          <p:cNvSpPr>
            <a:spLocks noGrp="1"/>
          </p:cNvSpPr>
          <p:nvPr>
            <p:ph type="body" idx="1"/>
          </p:nvPr>
        </p:nvSpPr>
        <p:spPr>
          <a:xfrm>
            <a:off x="838200" y="1825625"/>
            <a:ext cx="10515600" cy="3078884"/>
          </a:xfrm>
        </p:spPr>
        <p:txBody>
          <a:bodyPr/>
          <a:lstStyle/>
          <a:p>
            <a:pPr marL="114300" indent="0">
              <a:buNone/>
            </a:pPr>
            <a:r>
              <a:rPr lang="en-US" dirty="0"/>
              <a:t>This project helps banks understand real-time customer behavior using transaction data. By segmenting customers, banks can quickly identify active, inactive, and high-value customers and take timely actions such as personalized offers and retention strategies. Overall, the dashboard supports faster decision-making and improves customer engagement and revenue in real-time banking operations.</a:t>
            </a:r>
          </a:p>
          <a:p>
            <a:endParaRPr lang="en-US" dirty="0"/>
          </a:p>
        </p:txBody>
      </p:sp>
    </p:spTree>
    <p:extLst>
      <p:ext uri="{BB962C8B-B14F-4D97-AF65-F5344CB8AC3E}">
        <p14:creationId xmlns:p14="http://schemas.microsoft.com/office/powerpoint/2010/main" val="1575947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B0AF-34F7-7691-5B73-E83CC04D63C3}"/>
              </a:ext>
            </a:extLst>
          </p:cNvPr>
          <p:cNvSpPr>
            <a:spLocks noGrp="1"/>
          </p:cNvSpPr>
          <p:nvPr>
            <p:ph type="title"/>
          </p:nvPr>
        </p:nvSpPr>
        <p:spPr/>
        <p:txBody>
          <a:bodyPr/>
          <a:lstStyle/>
          <a:p>
            <a:pPr algn="ctr"/>
            <a:r>
              <a:rPr lang="en-US" b="1" dirty="0">
                <a:solidFill>
                  <a:srgbClr val="FF0000"/>
                </a:solidFill>
              </a:rPr>
              <a:t>Recommendations</a:t>
            </a:r>
            <a:endParaRPr lang="en-US" dirty="0">
              <a:solidFill>
                <a:srgbClr val="FF0000"/>
              </a:solidFill>
            </a:endParaRPr>
          </a:p>
        </p:txBody>
      </p:sp>
      <p:sp>
        <p:nvSpPr>
          <p:cNvPr id="3" name="Text Placeholder 2">
            <a:extLst>
              <a:ext uri="{FF2B5EF4-FFF2-40B4-BE49-F238E27FC236}">
                <a16:creationId xmlns:a16="http://schemas.microsoft.com/office/drawing/2014/main" id="{31068FF6-9D82-FF97-8B60-AAE2D628FB98}"/>
              </a:ext>
            </a:extLst>
          </p:cNvPr>
          <p:cNvSpPr>
            <a:spLocks noGrp="1"/>
          </p:cNvSpPr>
          <p:nvPr>
            <p:ph type="body" idx="1"/>
          </p:nvPr>
        </p:nvSpPr>
        <p:spPr>
          <a:xfrm>
            <a:off x="838200" y="1825625"/>
            <a:ext cx="10515600" cy="3847811"/>
          </a:xfrm>
        </p:spPr>
        <p:txBody>
          <a:bodyPr/>
          <a:lstStyle/>
          <a:p>
            <a:pPr marL="114300" indent="0">
              <a:buNone/>
            </a:pPr>
            <a:r>
              <a:rPr lang="en-US" dirty="0"/>
              <a:t>Based on this customer segmentation project, banks should use transaction data regularly to monitor customer activity and segment customers into new, loyal, and inactive groups. By doing this, banks can focus more on high-value customers, re-engage inactive customers with targeted offers, and guide new customers toward long-term relationships. The dashboard can be used in real time to track customer behavior, support quick decisions, and improve customer retention and revenue growth.</a:t>
            </a:r>
          </a:p>
          <a:p>
            <a:endParaRPr lang="en-US" dirty="0"/>
          </a:p>
        </p:txBody>
      </p:sp>
    </p:spTree>
    <p:extLst>
      <p:ext uri="{BB962C8B-B14F-4D97-AF65-F5344CB8AC3E}">
        <p14:creationId xmlns:p14="http://schemas.microsoft.com/office/powerpoint/2010/main" val="2111832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317298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D2D69F71-1994-4A5A-A3E4-A49CFF130221}">
  <we:reference id="wa200003233" version="2.0.0.3" store="en-US" storeType="OMEX"/>
  <we:alternateReferences>
    <we:reference id="WA200003233" version="2.0.0.3" store="" storeType="OMEX"/>
  </we:alternateReferences>
  <we:properties>
    <we:property name="artifactViewState" value="&quot;live&quot;"/>
    <we:property name="backgroundColor" value="&quot;#F3F4EE&quot;"/>
    <we:property name="bookmark" value="&quot;H4sIAAAAAAAAA+1ZTXPbNhD9Kx5ectFkCH4CvtmKk8k0Td3Kkx46PoDAUmYMEyoIOlY9+u9dgKJsybYqJVYjz1gnEoB23759WGCl20BWzUTx6Wd+BcFhcKz15RU3lwckGAR1N1ayNCkIEQAiTUieScoTnNUTW+m6CQ5vA8vNGOyXqmm5coZw8K/zQcCVOuVj91Zy1cAgmIBpdM1V9Q90i3HKmhZmgwBuJkob7kyOLLfgzF7jcnxHCORtjB65sNU1jEDYbpQnkQQAymIKnMmQxAxwWdMt8MgeXeJMe/dDXVte1ejGjZEwFjGXqUiyguQFE4KUbryslJ0vKaYnNxOD0WHM04kjZ4hYx9pUgqvAR2Gg6UDfBkOt2iv/dLI0PtKtEfAHeOsnta3s1FlqG6uvwBxYXigIZkjKqdFI2WL2A9QSjJ+50N+GBtC3DA7D2WAB50he81rg6CqWo/HYwJjb+evJToG62Y/v/Mz7tp6nK32I+xxHmqoeq7kc7jJz1oUjdd3a4QU31gmu+IqZdXnAr2mDVBxPfSreVabXRDRYCWEv4p6d9+LFL3y9J8+5erowdiaX85mbjVhJS5EXscziMg9pKLPEWVybAAs3ttA3y+w7awkPI1IAi0JJZJJDylL6n5tlP9T5SYvO03Keou/Qp+BGPuQmhRyEyGKgnAIwCSWTe1NIjsbwweh2sraM7FlV+z/hLKljSzmoqrEjVQkMZ6VcPbr7v3DV+rNydxneaVXxqeB105/ZXShGK//Uh4e1T8E1qG727xbMFL36Fcve3i6A41eqBoErPmkc9e6OgEMSPMxfYLpT0rz306que9eOxnW479HyBPKtzS1U+JhBh9BobV14PSkLLeGcuKiUNFB7kh4suA0+VViGOvn6UQz/zTEo/e2A0Dc9AWd6jEJfePSnyCDIU5FRmpSCFTTneR5mEbyWttcLW18BL9oalSdPAWHUFquCuATZoX29xv1YVfJXCxqCSARNMhpyyvI8xpbs6f03b+BYmbKsiHheQCbKnHCahZiIuQLP9OQzvnUWfE3o2y7Mwnujr7ypeX/YtIUvXcFqgkb9BD7/3j+ssySciSdYGASdnELH+AgUUr05td2L97D2eB/0SMoKlAycq982VOOvwJvWwA8B8eEOdVvboFMW5iE4JD7LXfSRKxPbsvXnBThgnqxaVv2G+bjC2hYH6KZ8+hg8oCctLNQzc5/5BeLn3OU2qMCbZXnLurJI+fa9hkITmNznKKe7De3ntLv3ldjVyiiknDCZRCUhpBBEvLaoe3zqPh1zd/WkWRTlhDERs5CmCY2jbH+univXhhdy+dyTvnqDWvzMl6rvqb/e1snNhnuJrO6lnamt2x08DjMehYKEZchJnDNSZnuzOzZqzF7cOXzMzeshvK5Z4XGcEhHTsqQ0lFSGWZi/kAP40Rbw+X4hlklcsDBnjDOWyQKSIhEvgJm+ct5RQp6JEs/K3UiAEMZ+Z+jWNhMu4JTXXVsz6eBU4Nf5HyAlyPmz718f+XnL///Ydx34+Rey2kVp9xwAAA==&quot;"/>
    <we:property name="creatorSessionId" value="&quot;451b106c-411c-4d6c-916d-7223f0ea4d8a&quot;"/>
    <we:property name="creatorTenantId" value="&quot;6e534b0f-ab60-4780-aa4c-1635afc9cffc&quot;"/>
    <we:property name="creatorUserId" value="&quot;100320057271048F&quot;"/>
    <we:property name="datasetId" value="&quot;ed4c9c21-973f-4612-a773-6a77e46fa2d2&quot;"/>
    <we:property name="embedUrl" value="&quot;/reportEmbed?reportId=b9e8c989-616c-4592-9a97-0b4a52fc69ab&amp;config=eyJjbHVzdGVyVXJsIjoiaHR0cHM6Ly9XQUJJLVVTLUVBU1QyLUUtUFJJTUFSWS1yZWRpcmVjdC5hbmFseXNpcy53aW5kb3dzLm5ldCIsImVtYmVkRmVhdHVyZXMiOnsidXNhZ2VNZXRyaWNzVk5leHQiOnRydWV9fQ%3D%3D&amp;disableSensitivityBanner=true&amp;storytellingChangeViewModeShortcutKeys=true&quot;"/>
    <we:property name="initialStateBookmark" value="&quot;H4sIAAAAAAAAA+1Z31PbOBD+Vxi99CXTsWzHlniDNO10KD+uYXoPHaYjS+vgIqycLFNSJv/7SbIdIEAuack1zJAneSXvfvvtaqV1bpAoqolk0yN2CWgX7St1ccn0xQ5GPVS2suPjg8O9zwffjvYOh1asJqZQZYV2b5BhegzmS1HVTDoNVvj1rIeYlCds7J5yJivooQnoSpVMFj+hWWynjK5h1kNwPZFKM6dyZJgBp/bKLrfP1jZ+G1mLjJviCkbATSNlcSgAgNCIAKMiwBEFu6xqFnhkjy5xqr35gSoNK0prxslwEPGIiT6PkwynGeUc506eF9K0S7Lp8HqirXfW5+nEsTKwWMdKF5xJ5L3QUDWgb9BAyfrSj4b35CNVaw6fwWsflqYwU6eproy6BL1jWCYBzSwpJ1pZyuazH6AUoP3Mufox0GBtC7QbzHpzOHviipXcShex7I3HGsbMtI/DjQJ1sx/f+Zn3ddmGq/8Q95mVVEU5lm063EbmtHFHqLI2g3OmjUu47LuNrIuDfU1pS8X+1IfiXaG7nAh7Cy5shd+zsy557Qvf76Rnmz2NGxtLl7OZmw1pTnKeZpFIojwNSCCS2GlcGgAD1yZT1/fZd9piFoQ4AxoGAos4hT7tk//cLNuRnZ8Ubyzdj1P4C/nJmRYPuelDCpwnERBGAKiAnIqtKSR7Y/igVT1ZWka2rKr9n3DuZcea6SCLyoxkwa07C+Xq0d3/hcnan5Wbi/BGq4oPBSur7sxuXNFK+lHnnq19Eq5ANrP/1KCn1qpfcd/a2zlw+0pRWeCSTSpHvbsjWJEAD/MAphslzVs/KcqyM+1oXIb7Di1PIF9b3TwLH1PoEGqljHOvI2WeS3aOnxdSaCg9SQ8W3KBPhS1DTfp6qXX/zT5I9WMHkzcdAadqbBN9btGfIj2U9nlCSJxzmpGUpWmQhPBa2l4vbF0FPK9Lm3niBCyM0tiqwC9ANGhfr3G/V5X81YIEwGNO4oQEjNA0jXg/fnr/tZ0bzfs0yUKWZpDwPMWMJIENRJuBp2pyZJ8aDb4mdG2XjcJ7rS69qrYxrOrMly60GKBRN2HHf3WDZZq4U/EECz3UpFPgGB+BtFSvTm3z4C0sPd57HZK8ACmQM3W8YjYeAqtqDb8FxLs7UHVpUJNZNg5oF/soN96Hrkysy9bf5+CAebJKUXQb5uMCa2scoKvy6X3wgJ7UMM+emfu1F4g/c5dboQKvFuU168o85Ov3GtKqsMF9jnK6Wdf+TLt7NxObWhkGhGEq4jDHGGcc89cWdYtP3ad9bq6eJAnDFFPKIxqQfkyiMNmeq+fCteGFXD63pK9eoRY/86XqV+qv1zW8XnEv4cW9tLFsa3YHi4KEhQHHQR4wHKUU58nW7I6VGrMXdw7vM/16CC9rVlgU9TGPSJ4TEggigiRIX8gB/GgL+HxfiEUcZTRIKWWUJiKDOIv5C2Cmq5y3lOBnosSzcitBFsLY7wxVm2rCOJywsmlrJg2cAvw6/wFSgGjHvn995POW//8ReSMWStE2KUtecB+9ui7F/v4FfUi5zSAdAAA=&quot;"/>
    <we:property name="isFiltersActionButtonVisible" value="true"/>
    <we:property name="isVisualContainerHeaderHidden" value="false"/>
    <we:property name="pageDisplayName" value="&quot;Customer Demographic Analysis&quot;"/>
    <we:property name="pageName" value="&quot;a42deee8938ea9d0139e&quot;"/>
    <we:property name="reportEmbeddedTime" value="&quot;2025-12-30T07:35:09.215Z&quot;"/>
    <we:property name="reportName" value="&quot;P1&quot;"/>
    <we:property name="reportState" value="&quot;CONNECTED&quot;"/>
    <we:property name="reportUrl" value="&quot;/groups/me/reports/b9e8c989-616c-4592-9a97-0b4a52fc69ab/a42deee8938ea9d0139e?experience=power-bi&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EF6F706-1975-45FF-A45D-86D36622E33B}">
  <we:reference id="wa200003233" version="2.0.0.3" store="en-US" storeType="OMEX"/>
  <we:alternateReferences>
    <we:reference id="WA200003233" version="2.0.0.3" store="" storeType="OMEX"/>
  </we:alternateReferences>
  <we:properties>
    <we:property name="artifactViewState" value="&quot;live&quot;"/>
    <we:property name="backgroundColor" value="&quot;#F3F4EE&quot;"/>
    <we:property name="bookmark" value="&quot;H4sIAAAAAAAAA+1abW/bNhD+K4a+dAOcQK+W1G+J023d0iKtgwDDEAxH8uSwlUWPorJ4Qf77SMpyEttxUtfZnFiIgVjH8/Hu4fH48Oxrh/FynMPkI4zQeescCvF1BPJrx3O6TlHLMPC9MIsSRN/DzCcsdJkeFWPFRVE6b68dBXKI6oyXFeTGkBb+cd51IM9PYGieMshL7DpjlKUoIOf/YK2sh5Ss8Kbr4NU4FxKMyYEChcbspVbXz9oFbz/QMwJV/BIHSFUtDYIoI2GYBUmEzAWaeABarawVrGdLVYxpO31fFAp4oacxMi/y3SSALESkJE4xjUNm5BnP1VSFTN5djaWOTsc8GRtwDtglFBQNIDoEiWXt8bVzMBxKHIKaPr67N9gXeTVaIh+ISlL8jJkdKhRXEz3HqYSiBBtURwHJ0bnRiJ1IofGcVzgYiapQnR/ef/z8o1X7qSqmeLnm8UL83ZeoAWZGcK4lJS+G+XQ9bqE5rcOjIO1aky8aVAPBjTHixwlLMxKEcRwHQZYFcRSvj9QvHCVIejE5xkvMF0GZjS8ONRicgeR17lgAvw/Y6VaY2XQewvrI5Kn5xB0PHSPs3ArM8DQu53cE6SwuQncGUV+LhkJyqldiZ1H6VIHUWdQC9RhQH3T1ulgJU7vljmCyBKFHy17OSzXIOdVpeK/4NWeQdu7LnVPmDPLKHno7hGxTzHYo5DuVaYeinpWZHYq5LhvnNS/VVhpWWu9xKXL7rtn3murm5oP16F8Vyon232os+L0/59X+zPn9+/7s2w2mTfNSs8UcxqWpXYYtaxFDC8xvOKnn/DY+eSz0uWlmOzUe/RkxlrleL9uDNAr3woCEe4QE/h5DSMEnJA0jNs84p7vfunfCi6LxzWTJpgBottu2YnBbDp4Vhnr/bSsITXV4VgjMdnwAgPtzaiUphDJBNtDMzmY9Ri94ziQWFqoFhWvnmOv1rOmAler4fA3IcRPfqRhqzjCbfA1zbz4p2QnfLDVoEPsGK/5yK+u59WtV4ANends/89IXv8Tt+SGlnsu8lPph4MXw6MVvFVnf8EV4Od172r1h03dyPsLOINfJuBZD/5/aB++P5poG0TpNA+te/0KXx3n6LCRDeTix6XHEZdPK8btzkWxR+GZPLGX902SarFF4n5jI53W3JQ1Sj2Q0TZBmCUtjr0eMtZVroPBKEXG12LsJe8QNgfrgp6mfkICGPf81dbnCjXW5egEFBqnrexAlLpKIMm8rkOpXpRIjlMthMqMHlBqADiE3zswh5G0MoST1EpISwoI4ZG4QunEa/ofHwWocDob4sxTV+EXV3xWJvdayvdhKvBqI56jJT86muioDzTyWhnEKsSZEAellCa5fHXbmZt32wNseeNsD34Ie+Is8A9f5CjPnBS49AR8/QHYmRdpm/o5EvcvNfCPDKPUQ9WXF7VHQ7I0F+B2sbfsK5ObudhiRgEYYZ5AmaeQRjwBt+W3Lb1t+2/Lb7cLoFfFb/5XEsS5PHyigX5HVPvfFiIiWuT+V3NhT+xYmZ4RyaL0WlSrHQPEECrTgjOuZOVo9+wsHhmz6Xpr/S74itD/hdew0drZ/AYAYr4E6LAAA&quot;"/>
    <we:property name="creatorSessionId" value="&quot;40b0fec4-8433-46b4-873a-931df28e92c6&quot;"/>
    <we:property name="creatorTenantId" value="&quot;6e534b0f-ab60-4780-aa4c-1635afc9cffc&quot;"/>
    <we:property name="creatorUserId" value="&quot;100320057271048F&quot;"/>
    <we:property name="datasetId" value="&quot;ed4c9c21-973f-4612-a773-6a77e46fa2d2&quot;"/>
    <we:property name="embedUrl" value="&quot;/reportEmbed?reportId=b9e8c989-616c-4592-9a97-0b4a52fc69ab&amp;config=eyJjbHVzdGVyVXJsIjoiaHR0cHM6Ly9XQUJJLVVTLUVBU1QyLUUtUFJJTUFSWS1yZWRpcmVjdC5hbmFseXNpcy53aW5kb3dzLm5ldCIsImVtYmVkRmVhdHVyZXMiOnsidXNhZ2VNZXRyaWNzVk5leHQiOnRydWV9fQ%3D%3D&amp;disableSensitivityBanner=true&amp;storytellingChangeViewModeShortcutKeys=true&quot;"/>
    <we:property name="initialStateBookmark" value="&quot;H4sIAAAAAAAAA+1abU8jNxD+K2i/XCsFtK/Z3fsWAm2vvBxHEFJVodPYng0+NuvU66WkiP9e25sESELgcqENJCIS2fFkPPN4PH48ya3DeNnPYXAMPXQ+OrtCXPVAXm15TsMphrLPnw+OWqcHX49bR/taLPqKi6J0Pt46CmQX1TkvK8iNBS3886LhQJ6fQNc8ZZCX2HD6KEtRQM7/wVpZDylZ4V3DwZt+LiQYkx0FCo3Za62un/Xc3k6gZwSq+DV2kKpaGgRRRsIwC5IImQs08QC0WlkrWM9mqhjTdvq2KBTwQk9jZF7ku0kAWYhISZxiGofMyDOeq6EKGezf9KWOTsc86BtUWuwaCorMsSFILGuPb51WtyuxC2r4uP9osC3yqjdD3hGVpHiKmR0qFFcDPceZhKIEG9SWApKjc6cRO5FC4zmp0OqJqlBbP306Pv3Zqv1SFUO8XPN4Kf5uS9QAMyO40JKSF918uB730JzV4VGQJjRBvmlQDQR3xogfJyzNSBDGcRwEWRbEUbw4Ur9xlCDp5eAQrzGfBmU8Pj00wuAcJK9zxwL4Y8AO98DYpvMU1nsmT80nHnjoGOHWvcAMD+Ny/kCQzvQiNMYQtbWoKySneiXWFqUvFUidRRugngPqSFevy7kwbbbcHgxmIPRs2ct5qTo5pzoNHxW/0Rmknfv24JQ5h7yyh94aITsqZmsU8oPKtEZRj8vMGsVcl42LmpdqKyNWWu9xKXL7brTvNdXNzQfr0b8qlAPtv9WY8ntnwqudsfM7j/3ZsRtMm+alZos59EtTuwxb1iKGFpgDHNRzfh+fPBT63DSznRmPvkaMZa7XzLYhjcLtMCDhNiGBv80QUvAJScOITTLO4e637p3wohj5ZrJkWQCMttuqYnBfDl4Vhnr/rSoIo+rwqhCY7fgEAI/n1EpSCGWCHEEzPpv1GL3kOZNYWKimFG6dQ67Xs6YDVqrj8zUgh6P4zkRXc4bx5AuY+/BFya3ww0yDBrHvsOLPtrKYW79XBT7h1YX9My998Uvcph9S6rnMS6kfBl4Mz1785pH1JV+EZ9O9l90bln0n5z3c6uQ6GRdi6P9T++DT3kTTIFqkaWDda1/q8jhJn4VkKHcHNj32uBy1cvzGRCQrFL7ZEzNZ/zCZBgsU3hcm8kXdbUmD1CMZTROkWcLS2GsSY23uGii8UUTcTPduwiZxQ6A++GnqJySgYdN/T12ucGldrmZAgUHq+h5EiYskosxbCaTaValED+VsmMxoi1ID0C7kxpkJhLylIZSkXkJSQlgQh8wNQjdOw//wOJiPQ6uLv0pR9d9U/Z2T2Ast25utxPOBeI2a/OJsqqsy0MxjaRinEGtCFJBmluDi1WFtbtabHvimB77pga9AD/xNnoGLfIWZ8wJnnoDPHyBrkyKbZv6aRL3OzXwjwyj1EPVlxW1S0OyNBfgDrG31CuTy7nYYkYBGGGeQJmnkEY8A3fDbDb/d8NsNv10tjN4Rv/XfSRyL8vSOAnqFrPa5LXpEbJj7S8mNPbXvYXJ6KLvWa1Gpsg8UT6BAC06/npmj1bO/cGDIhu+l+T/jK0L7E17HTqKXjZvA5n/AfHnoWLesd/8Cz6dtXmMsAAA=&quot;"/>
    <we:property name="isFiltersActionButtonVisible" value="true"/>
    <we:property name="isVisualContainerHeaderHidden" value="false"/>
    <we:property name="pageDisplayName" value="&quot;Transaction Behavior Insights&quot;"/>
    <we:property name="pageName" value="&quot;335fb44f385ed0ac81aa&quot;"/>
    <we:property name="reportEmbeddedTime" value="&quot;2025-12-30T07:36:56.106Z&quot;"/>
    <we:property name="reportName" value="&quot;P1&quot;"/>
    <we:property name="reportState" value="&quot;CONNECTED&quot;"/>
    <we:property name="reportUrl" value="&quot;/groups/me/reports/b9e8c989-616c-4592-9a97-0b4a52fc69ab/335fb44f385ed0ac81aa?experience=power-bi&quot;"/>
  </we:properties>
  <we:bindings/>
  <we:snapshot xmlns:r="http://schemas.openxmlformats.org/officeDocument/2006/relationships"/>
</we:webextension>
</file>

<file path=ppt/webextensions/webextension3.xml><?xml version="1.0" encoding="utf-8"?>
<we:webextension xmlns:we="http://schemas.microsoft.com/office/webextensions/webextension/2010/11" id="{FBCC7135-6121-4E1F-92E6-7106DA4F70CF}">
  <we:reference id="wa200003233" version="2.0.0.3" store="en-US" storeType="OMEX"/>
  <we:alternateReferences>
    <we:reference id="WA200003233" version="2.0.0.3" store="" storeType="OMEX"/>
  </we:alternateReferences>
  <we:properties>
    <we:property name="artifactViewState" value="&quot;live&quot;"/>
    <we:property name="backgroundColor" value="&quot;#F4F5EF&quot;"/>
    <we:property name="bookmark" value="&quot;H4sIAAAAAAAAA+1ZS2/bOBD+K4Yu7QLGQtST6i1xkyJAUwRJ0D0UPgzJoaNWlrwUlcYb+L+XpOQ0iZ24mzhepdibRY6H37y+GVHXnsjrWQHzTzBF7523X1XfpqC+DYg39Mp2jWeJJDSSGfUJJDT0MQ7MbjXTeVXW3rtrT4OaoP6c1w0UVpFZ/DIeelAUJzCxTxKKGofeDFVdlVDk/2ArbLa0anAx9PBqVlQKrMozDRqt2ksjbp4NBPJnaE4ErvNLPEOu29WYAQlJDAKlZBBT7nNhxOpWwCFbK2JVu+NHVakhL80xds1POWMyjQKkSUQwkHEW23WZF7oTYfODq5ky1hmb5zPrnJHBOqlUzqHwnBUK6xb0tTeqimbqfh3cWT+rGsXxFKXbKnWu50bTuYKyBgd9oIEV6C2MX05UZbzmBEZNraspqnN7st27qL6PFBoAxiR/MbzBtCcuoeQoVgAdI9SNwq0h2rucnOIllg2eoFrCWwNtbFbqvJwUXdh/RuC8Rcydp0YXoLTNLPbVhNA63PyvUgLV/tz5/H2ulsEPhvdM2JVti/EyEY3w11up1mVCi/RlQz9e2H2SIUU/AMYDFgRCQsLIxnzdWW58rOZQDJbA6ydlBShxNx2c2TzMGA1EInwIA+Qk4cnvVaZ7k4nCCeju8eAl0R4q/LvBks8Hbw//cJuHTdnVGOk9+lPkLfbT14f9uCrRNE4D/vgXwG8sFnfGwdVT6bM/llt2s1WeIpMxMeNGAhChDORmcttelS+L+IHeMMEPqmpm/S/vFTL66er4KYxcGH2oUOyDela37o8PXqKf/3L2tI08TBmSlEUYUp8S084l/c0Gz12G+5bA3rRqSj14e/RppT/4/82U2ktH9GekjUnM/AyZjyykwpQBofwVVcLGDIKuQM6KnKPqhFYm3CTIQsMJJAPDCMh5kGXRK/JCf/mgvv+a+ryR66Ybjl4tMTzukf4QQ+r7UQYkFIxjHEAY+TttkY83dLv7AUvxtLuP2nHBnbzxzFET9youQIMzadYel2O7Xwm3jc7ia+9jbrzQ6v4MRWPVvtmHOudv7I1FN1KvjaQTr7c+49xxSRdCRjFgkQg5T2JDCrEf/j/lbKOGj95vYbKf5fga+Wud7f1hrcwwVRgRmRAiEilpSgJ4OOW76/aIyhgwiSKW0lgKTBnYy/i1BdEqcnW8vCs3kTlU1dRp7C71bVAfsWTotTngW8f9dYH2EtA5qBT5Mp5H9zz1LxijfXAwVq4Ia32r+ZjTb9joy3pOs/+wlDYeO1J7YUa4h+9uTZG+McIK2me+6q+9fM1CSmLBkpTFIJJMkChlGzM6BCaySGRIIfRpFiTMlMEDGb0Tih/UOJliqfsf1CXiFZ4LthdSnkIcMckzmkoTKZJwB/Lx20a80qy6WtUmORUsjTMZJEEoKeWxxI1dfmcfJT7h96VHu4872/ou4YxfN8FVja5nwPEESlwzyRl7wYxJYsM05z6g3sxyi8UPe9+L3bgdAAA=&quot;"/>
    <we:property name="creatorSessionId" value="&quot;c5287b85-f6cf-45e6-a7fc-b4ef7151719f&quot;"/>
    <we:property name="creatorTenantId" value="&quot;6e534b0f-ab60-4780-aa4c-1635afc9cffc&quot;"/>
    <we:property name="creatorUserId" value="&quot;100320057271048F&quot;"/>
    <we:property name="datasetId" value="&quot;ed4c9c21-973f-4612-a773-6a77e46fa2d2&quot;"/>
    <we:property name="embedUrl" value="&quot;/reportEmbed?reportId=b9e8c989-616c-4592-9a97-0b4a52fc69ab&amp;config=eyJjbHVzdGVyVXJsIjoiaHR0cHM6Ly9XQUJJLVVTLUVBU1QyLUUtUFJJTUFSWS1yZWRpcmVjdC5hbmFseXNpcy53aW5kb3dzLm5ldCIsImVtYmVkRmVhdHVyZXMiOnsidXNhZ2VNZXRyaWNzVk5leHQiOnRydWV9fQ%3D%3D&amp;disableSensitivityBanner=true&amp;storytellingChangeViewModeShortcutKeys=true&quot;"/>
    <we:property name="initialStateBookmark" value="&quot;H4sIAAAAAAAAA+1Z227bOBD9FUMv7QLGQtRdfXPcpCjapEESdB8KYzEkh4paWfJSVBpv4H9fkpLTJHbibuJ4lWLfLHI8PHM7M6KuHJ7XswLmRzBF542zV1XfpiC/DYgzdMpu7dOnD4ejkw9/Ho0O9/VyNVN5VdbOmytHgcxQfc7rBgqjQS9+mQwdKIpjyMyTgKLGoTNDWVclFPnf2ArrLSUbXAwdvJwVlQSj8lSBQqP2QovrZ302+d3XJwJT+QWeIlPtakiB+CQEjkJQCBPmMq7F6lbAIlsrYlTb48dVqSAv9TFmzY0ZpSIOPEyigKAnwjQ06yIvVCdC5/uXM6mt0zbPZ8YrY401q2TOoHCsFRLrFvSVM66KZmp/7d9aP60ayfAEhd0qVa7mWtOZhLIGC32ggBboLLRfjmWlvWYFxk2tqinKM3Oy2Tuvvo8lagDaJHcxvMY04hdQMuQrgA4R6kbi1hCNLrITvMCywWOUS3hroE30Sp2XWdGF/UcEzlrEzHpqfA5SmcyiX3UIjcP1/yrJUe7Nrc/f5nIZfG94x4Rd2baYLBNRC3+9kWpdJrRInzf0k4XZJykm6HpAmUc9jwuIKNmYrzvLjY/VHIrBEnj9qKwAyW+ngzWb+SlNPB5xF3wPGYlY9GuV6SjLJGagusf950R7IPGvBks2H7w++M1uHjRlV2Ok9+hPkLXYT14e9sOqRN04NfjDnwC/sVjsGfuXj6XP/lhu2M1UeYxUhCTx3QggQOGJzeS2vSpfFvE9vSHDd7JqZv0v7xUy+uHq8DGMXGh9KJHvgXxSt+6PD56jn/909rSN3I8pkpgG6CduQnQ7F8kvNnjuMtw3BEbTqinV4PX7o5X+4P43U2ovHdGfkTYkIXVTpC5SP+G6DEjCXlAlbMwg6ArktMgZyk5oZcKNvNTXnEBS0IyAjHlpGrwgL/SXD+q7r6lPG7muu+H4xRLDwx7pDzHErhukQHxOGYYe+IG70xb5cEM3u++w5I+7+6gtF9zKG0cfldlXcQ4KrEmz9rgc2/2K2220Fl85H3PthVb3Zygao/bVHtQ5e2VuLLqRem0krXi99Rnnlku6ENIEPRpwn7Eo1KQQuv7/U842avj92y1M9rMcXyJ/rbO9P6yVaqbyAyIiQngkRBITD+5P+e6ePUhECBgFAY2TUHCMKZhb+LUF0Sqydby8K9eROZDV1GrsbvNNUB+wZOi0OeAax/1xjuYS0Dqo5Pkynu/veOpfMEb7YGGsXBHW6kbz0adfs9GX9Zxm/mEobTKxpPbMjHAH3+2aIn1jhBW0T3zVX3v5mvoJCTmNYhoCj1JOgphuzGgfKE8DnmICvpukXkR1GdyT0Tuh+EGN2RRL1f+gLhGv8Jy3vZCyGMKACpYmsdCRIhGzIB++bcRLRavLVW2CJZzGYSq8yPNFkrBQ4MYuv7OPEkf4fenR7uPOtr5LWOPXTXBVo+oZMDyGEtdMctpe0GMS3zDN2Q+ojj1EQ8mNaQ//wXxWvZ79Fot/ALImdofhHQAA&quot;"/>
    <we:property name="isFiltersActionButtonVisible" value="true"/>
    <we:property name="isVisualContainerHeaderHidden" value="false"/>
    <we:property name="pageDisplayName" value="&quot;Customer segmentation Analysis&quot;"/>
    <we:property name="pageName" value="&quot;5ba1315adeffba58c0cd&quot;"/>
    <we:property name="reportEmbeddedTime" value="&quot;2025-12-30T07:37:38.377Z&quot;"/>
    <we:property name="reportName" value="&quot;P1&quot;"/>
    <we:property name="reportState" value="&quot;CONNECTED&quot;"/>
    <we:property name="reportUrl" value="&quot;/groups/me/reports/b9e8c989-616c-4592-9a97-0b4a52fc69ab/5ba1315adeffba58c0cd?experience=power-bi&quot;"/>
  </we:properties>
  <we:bindings/>
  <we:snapshot xmlns:r="http://schemas.openxmlformats.org/officeDocument/2006/relationships"/>
</we:webextension>
</file>

<file path=ppt/webextensions/webextension4.xml><?xml version="1.0" encoding="utf-8"?>
<we:webextension xmlns:we="http://schemas.microsoft.com/office/webextensions/webextension/2010/11" id="{4811B643-589E-46BB-9924-954D371F9F09}">
  <we:reference id="wa200003233" version="2.0.0.3" store="en-US" storeType="OMEX"/>
  <we:alternateReferences>
    <we:reference id="WA200003233" version="2.0.0.3" store="" storeType="OMEX"/>
  </we:alternateReferences>
  <we:properties>
    <we:property name="artifactViewState" value="&quot;live&quot;"/>
    <we:property name="backgroundColor" value="&quot;#F3F4EF&quot;"/>
    <we:property name="bookmark" value="&quot;H4sIAAAAAAAAA+1ZWW/jNhD+K4FetgWMQjelvCXeLBpgm+7GwbZAkYchOXS0kSVXotKkgf97h5Scw3Zi57CTbOMncTgczs2P5qUjs3qcw8UBjNDZdnbL8nQE1emW5/ScoqUpDjyIFHpJxDyWcC9ATrPlWGdlUTvbl46Gaoj6W1Y3kBtBRPzruOdAnn+BoRkpyGvsOWOs6rKAPPsXW2aa0lWDk56D5+O8rMCIHGjQaMSeETuNSQXvl4B2BKGzMxyg0C01DmXqBin6gWLciyEE37DVLYPVbCGLEW2375eFhqygbQwt9ISLEUtpTRD6vuKR7xp6nRXDvFP4eu3Rxdg4R+O55uW58Qf/ThsbSZMJGRT64Ec+iCjiKvEBMJaxWa2yXHcb8ou983FFviIPttL6ZPmwrDJBO1mfVFi3Lrh0+mXejOzX3i36oGwqgYeo7FShM31Bko4qKGqwjtjSwHN0jFJfqpJiYBkOs/r0M55hbidOyn/6FdLu0tl2J70rhXbkGRSCqLPa7AyHFQ5Bd8O9J6jab2pdjrBarOd0dv+jnfnUFF34o3m9j4lyb7RkWTS6fwKVvh0wGlQSq90LG4yPWTXNMb83Y8KrsHtyPC0GWvD9Rrp3+dOascaEObYpHikeAFMsEtJVSexGoYD3FH9cqHeEKJtC70JulJkJufvS+i91NWkmMz0QZbWC7kvLtBagKYMWFurCvP/TZtirClhbInHgu+AKySGOYgWulCxdWiJ3RnTNQXtglPKs1oM8E1itFKNvkDcWGazZjs7xXKWQuIIlwN0k9pXneq+pN00TzPryUeX9G0LdVPhsGu0Q3CK09sSkEDkZhiSj9deTztqNWPgiZ+lM9NuUZYRVIeGYME+xIOEQhE/oFa80PaCS81g5CaRiBnJLETHOEzdQ/msq1vuAxNtpk/MALkl5IP0Y6IQSaZL46IVsg35fDQBvDXA4wkK/OIhb6uAbDDsjAw62fto/OPz5GQDRVVfdhcWo6AWuL8/njnW04AfnVlsRgD5dY1gqueTM/OcRJO+wYRPnwjtaeCBa4GEU0uUi9ELp+okMlBst/3/pR2+Tc+jizXdGQxLgxlISPgoBXT9gdI1cfkz/70JthKgo8qKEge8HroepEDJ2Nwah7z9yfs2GJwaBTbn6xh3PA6HX1iMfZ1GbtCqSHDzmR4AMWeoHEcO7Q9E9NXioVJAmoXJZlErJPe4JsrUL1FE5PqBRK8Fi5ekDARn6qSpHVlT3klE3/O8GqSHP+mAwnaDvr9OP+yQZDe5ySc9po2KP3o5f3+SfL5HrJXSWDDCnYK1+aLQDq9Q9/xf3pqqoDHPpmI1+31gbvFJRPwkQUrCdbc+1Zd06zL/h49ViQmL+OEGT79a/BR3kncb7M1Y84MK1WgisCVadO9dfZehkYotmE5ep7jVhDjV29QfA0jRksYqYED6mhDC86/q7jXNXK8OHFMMaYzWXi7cuw73rWzdJ/pyRXW3jtWTi/mB63ZZZ88HwHz9DvJ7p9eJN3T1+DOhht9ube/K1neqa4pCnhrb6y0bXYxD4BYo2u8etlhlaPnIRFNLsbb9tRS1IQfuEPm0V9PsP4dhi/rofAAA=&quot;"/>
    <we:property name="creatorSessionId" value="&quot;ed21851b-7bfd-437c-bb6a-6201b638db36&quot;"/>
    <we:property name="creatorTenantId" value="&quot;6e534b0f-ab60-4780-aa4c-1635afc9cffc&quot;"/>
    <we:property name="creatorUserId" value="&quot;100320057271048F&quot;"/>
    <we:property name="datasetId" value="&quot;ed4c9c21-973f-4612-a773-6a77e46fa2d2&quot;"/>
    <we:property name="embedUrl" value="&quot;/reportEmbed?reportId=b9e8c989-616c-4592-9a97-0b4a52fc69ab&amp;config=eyJjbHVzdGVyVXJsIjoiaHR0cHM6Ly9XQUJJLVVTLUVBU1QyLUUtUFJJTUFSWS1yZWRpcmVjdC5hbmFseXNpcy53aW5kb3dzLm5ldCIsImVtYmVkRmVhdHVyZXMiOnsidXNhZ2VNZXRyaWNzVk5leHQiOnRydWV9fQ%3D%3D&amp;disableSensitivityBanner=true&amp;storytellingChangeViewModeShortcutKeys=true&quot;"/>
    <we:property name="initialStateBookmark" value="&quot;H4sIAAAAAAAAA+1ZW0/jRhT+K8gv20pRZY8vY/MWsqyKdmEpQdtKFaqO5xK8OHY6HlMoyn/vmbHDJQkkQBJgS548Z86cOff5JnPl8Kwa5XB5AEPhbDs7ZXk2BHW25Tkdp2hpX79+3u8eff7roLu/i+RypLOyqJztK0eDGgj9LatqyI0EJP550nEgzw9hYEYS8kp0nJFQVVlAnv0rGmac0qoW444jLkZ5qcCI7GvQwog9R3Yc497eLz7uCExn56IvmG6oUcAT108E8SVNvQgCIIatahisZnNZjGi7fa8sNGQFbmNogcdcEdIE1/gBITINiWvoVVYM8lbhm7XHlyPjFS0udFpeGH+k33FjI2k8RoMCAiQkwMIwlTEBEBGPzGqZ5brdML3cvRgp9BV6sJHWQ8sHpcoY7mR9okTVuODK6ZV5PbRfu3fo/bJWTBwJaacKnelLlHSsoKjAOmJLQ5oLxyh1qEqMgWU4yqqzL+Jc5HbitPynpwTuzp1td9y5VqjLz6FgSJ3WpjsYKDEA3Q53n6Fqr650ORRqvp6T2b2PduZTXbThD2f1PkHKg9HiZVHr3ikofTdgOFBcqJ1LG4yPmZrkGOlMmfAq7B6fTIoBF3y/le5t/jRmrDFhTmyKhzL1gUoaMu7KOHLDgMF7ij8t1F3GyrrQO5AbZaZC7r60/gtdjZrxTPdZqZbQfWGZVgw0ZtDcQp2b93/YDHtVAWtKJPKJCy7jKURhJMHlnCYLS+TeiK45aI+MUp5Vup9nTKilYvQN8toigzXb0To+lQnELqMxpG4cEem53mvqTZMEs758UnnvC6hqJVamURfhFqK1ZyYFy9EwgTIafz3rrN2IhS9ylk5Fv0lZilgV4lTE1JPUj1Pwg2f0ileaHqD4LFaOfS6pgdychTRNY9eX5DUV60NA4u20yVkAFyepz0kEeEKxJI6J8AK6Qb8vB4C3+mIwFIV+cRC30MG3GLpDAw62fto7OPp5BYDouqvuwHxU9ALXl9W5Yx0t+NG51VQECILXGJrwlKc0lMLz43fYsIlz4R0tPBItpEEY4OUi8ALukpj70g0X/7/0o7fJGXTx5jujITFwI84RHwUgXOJTvEYuPqb/d6E2QmQYemFMgRDf9UTCGI/cjUHoh4+cX7PBqUFgE66eccdqIPTaeuTTLGqSVoY8BY+SEAQVNCF+SMX9oWjfGDwhpZ/EgXRpmHCeeqnH0NY2UMfl6ABHjQSLlScPBGjoJ1UOraj2CaOq079rgQ152gf9yQR+/zb5eEiS0eA+l3ScJir26G359W3+2RK5WYJnSV/kGKzlD41mYJV64P/izkQVmYmcO2ajrxtrg9cq6mcBQgy2s+25tqwbh5FbPl4uJijm91Nh8t36t8CDvNV4b8qKR1y4lguBNcGqc+/66wwdj23RbOIy1b4mzKDGtv4AaJIENJIhZYyIBBGGd1N/d3HucmX4mGJYY6xmcvHOZbhzc+tGyV8ytKtpvJaM3B9Mr9syaz4Y/pMVxGtFrxdv6u7xY0APu93uzJOv7VQ3FAc9NbDVX9a6GgETh1A02T1qtMyE5UMXQcHN3vbbVtScFLRP6I7dBLXJ2s7ywALzsD5pLfj7D1MAKsLjHwAA&quot;"/>
    <we:property name="isFiltersActionButtonVisible" value="true"/>
    <we:property name="isVisualContainerHeaderHidden" value="false"/>
    <we:property name="pageDisplayName" value="&quot;Profitability Risk and Indicators&quot;"/>
    <we:property name="pageName" value="&quot;64d9039e23f7b16a4a23&quot;"/>
    <we:property name="reportEmbeddedTime" value="&quot;2025-12-30T07:38:06.510Z&quot;"/>
    <we:property name="reportName" value="&quot;P1&quot;"/>
    <we:property name="reportState" value="&quot;CONNECTED&quot;"/>
    <we:property name="reportUrl" value="&quot;/groups/me/reports/b9e8c989-616c-4592-9a97-0b4a52fc69ab/64d9039e23f7b16a4a23?experience=power-bi&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237</TotalTime>
  <Words>458</Words>
  <Application>Microsoft Office PowerPoint</Application>
  <PresentationFormat>Widescreen</PresentationFormat>
  <Paragraphs>37</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Libre Baskerville</vt:lpstr>
      <vt:lpstr>Calibri</vt:lpstr>
      <vt:lpstr>Arial</vt:lpstr>
      <vt:lpstr>Times New Roman</vt:lpstr>
      <vt:lpstr>Wingdings</vt:lpstr>
      <vt:lpstr>Office Theme</vt:lpstr>
      <vt:lpstr>PowerPoint Presentation</vt:lpstr>
      <vt:lpstr>Agenda</vt:lpstr>
      <vt:lpstr>Introduction</vt:lpstr>
      <vt:lpstr>Business Problem</vt:lpstr>
      <vt:lpstr>BUSINESS OBJECTIVE</vt:lpstr>
      <vt:lpstr>PowerPoint Presentation</vt:lpstr>
      <vt:lpstr>PowerPoint Presentation</vt:lpstr>
      <vt:lpstr>PowerPoint Presentation</vt:lpstr>
      <vt:lpstr>PowerPoint Presentation</vt:lpstr>
      <vt:lpstr>INSIGHTS</vt:lpstr>
      <vt:lpstr>Conclusion</vt:lpstr>
      <vt:lpstr>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Akshitha Manne</cp:lastModifiedBy>
  <cp:revision>3</cp:revision>
  <dcterms:created xsi:type="dcterms:W3CDTF">2021-02-16T05:19:01Z</dcterms:created>
  <dcterms:modified xsi:type="dcterms:W3CDTF">2026-01-03T04:10:13Z</dcterms:modified>
</cp:coreProperties>
</file>